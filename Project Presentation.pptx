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00C49A">
              <a:alpha val="12156"/>
            </a:srgbClr>
          </a:solidFill>
          <a:ln cap="flat" cmpd="sng" w="12700">
            <a:solidFill>
              <a:srgbClr val="00C49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00C49A">
              <a:alpha val="12156"/>
            </a:srgbClr>
          </a:solidFill>
          <a:ln cap="flat" cmpd="sng" w="12700">
            <a:solidFill>
              <a:srgbClr val="00C49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412480" y="1371600"/>
            <a:ext cx="1097280" cy="1097280"/>
          </a:xfrm>
          <a:prstGeom prst="ellipse">
            <a:avLst/>
          </a:prstGeom>
          <a:solidFill>
            <a:srgbClr val="00C49A">
              <a:alpha val="12156"/>
            </a:srgbClr>
          </a:solidFill>
          <a:ln cap="flat" cmpd="sng" w="12700">
            <a:solidFill>
              <a:srgbClr val="00C49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132320" y="182880"/>
            <a:ext cx="1097280" cy="1097280"/>
          </a:xfrm>
          <a:prstGeom prst="ellipse">
            <a:avLst/>
          </a:prstGeom>
          <a:solidFill>
            <a:srgbClr val="00C49A">
              <a:alpha val="12156"/>
            </a:srgbClr>
          </a:solidFill>
          <a:ln cap="flat" cmpd="sng" w="12700">
            <a:solidFill>
              <a:srgbClr val="00C49A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85800" y="5029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SOFE 4820U  —  Modelling &amp;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" y="10058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Stock Market Risk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800" y="1737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Strategy Simulation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800" y="2697480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Monte Carlo Simulation for Investment Decision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685800" y="3218688"/>
            <a:ext cx="3200400" cy="0"/>
          </a:xfrm>
          <a:prstGeom prst="straightConnector1">
            <a:avLst/>
          </a:prstGeom>
          <a:noFill/>
          <a:ln cap="flat" cmpd="sng" w="190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685800" y="432511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Shivam Patel  ·  Saumya Pandya  ·  Rushi Rathod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" y="1188720"/>
            <a:ext cx="26517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0040" y="1188720"/>
            <a:ext cx="265176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234440" y="1417320"/>
            <a:ext cx="777240" cy="777240"/>
          </a:xfrm>
          <a:prstGeom prst="ellipse">
            <a:avLst/>
          </a:prstGeom>
          <a:solidFill>
            <a:srgbClr val="E0F7F0"/>
          </a:solidFill>
          <a:ln cap="flat" cmpd="sng" w="12700">
            <a:solidFill>
              <a:srgbClr val="E0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5087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484632" y="2359152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Unpredictable Markets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4632" y="2852928"/>
            <a:ext cx="232257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Stock markets are inherently volatile and driven by countless external factors, making straightforward price prediction nearly impossible with traditional methods.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172968" y="1188720"/>
            <a:ext cx="26517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172968" y="1188720"/>
            <a:ext cx="265176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087368" y="1417320"/>
            <a:ext cx="777240" cy="777240"/>
          </a:xfrm>
          <a:prstGeom prst="ellipse">
            <a:avLst/>
          </a:prstGeom>
          <a:solidFill>
            <a:srgbClr val="E0F7F0"/>
          </a:solidFill>
          <a:ln cap="flat" cmpd="sng" w="12700">
            <a:solidFill>
              <a:srgbClr val="E0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8808" y="15087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3337560" y="2359152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Exact Prediction is Hard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337560" y="2852928"/>
            <a:ext cx="232257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Complex, non-linear market dynamics mean that simple forecasting models consistently fail — especially in volatile or crisis-driven conditions.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025896" y="1188720"/>
            <a:ext cx="265176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025896" y="1188720"/>
            <a:ext cx="265176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940296" y="1417320"/>
            <a:ext cx="777240" cy="777240"/>
          </a:xfrm>
          <a:prstGeom prst="ellipse">
            <a:avLst/>
          </a:prstGeom>
          <a:solidFill>
            <a:srgbClr val="E0F7F0"/>
          </a:solidFill>
          <a:ln cap="flat" cmpd="sng" w="12700">
            <a:solidFill>
              <a:srgbClr val="E0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1736" y="15087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6190488" y="2359152"/>
            <a:ext cx="23225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Investors Lack Risk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190488" y="2852928"/>
            <a:ext cx="232257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Retail investors have limited access to data-driven risk analysis tools, forcing them to rely on intuition rather than probabilistic evidence.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Simulation?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20040" y="1170432"/>
            <a:ext cx="397764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20040" y="1170432"/>
            <a:ext cx="397764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02920" y="1325880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$500B+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783080" y="1371600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Lost annually to poor investment decisions worldwide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0040" y="2468880"/>
            <a:ext cx="397764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0040" y="2468880"/>
            <a:ext cx="397764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02920" y="2624328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87%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783080" y="267004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Of retail investors underperform the benchmark index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0040" y="3767328"/>
            <a:ext cx="397764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040" y="3767328"/>
            <a:ext cx="397764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3922776"/>
            <a:ext cx="1188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1,000×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783080" y="3968496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More scenarios tested vs. manual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0" y="1143000"/>
            <a:ext cx="4206240" cy="3794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754880" y="132588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Simulation lets us: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754880" y="1901952"/>
            <a:ext cx="201168" cy="201168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074920" y="181051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Quantify uncertainty instead of ignoring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754880" y="2679192"/>
            <a:ext cx="201168" cy="201168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074920" y="258775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Stress-test investment strategies across thousands of scenarios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754880" y="3456432"/>
            <a:ext cx="201168" cy="201168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074920" y="336499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Understand worst-case outcomes before committing capital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754880" y="4233672"/>
            <a:ext cx="201168" cy="201168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074920" y="414223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Compare strategy risk-return trade-offs objectively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Related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56032" y="1188720"/>
            <a:ext cx="2743200" cy="3767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256032" y="1188720"/>
            <a:ext cx="27432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93192" y="12344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Time Series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93192" y="17922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ARIMA · GARCH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93192" y="2240280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Statistical models that capture temporal dependencies and volatility clustering in price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6"/>
          <p:cNvCxnSpPr/>
          <p:nvPr/>
        </p:nvCxnSpPr>
        <p:spPr>
          <a:xfrm>
            <a:off x="393192" y="3749040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6"/>
          <p:cNvSpPr/>
          <p:nvPr/>
        </p:nvSpPr>
        <p:spPr>
          <a:xfrm>
            <a:off x="393192" y="3822192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Limited to linear trends; breaks down in turbulent markets.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163824" y="1188720"/>
            <a:ext cx="2743200" cy="3767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163824" y="1188720"/>
            <a:ext cx="27432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300984" y="12344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Averages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300984" y="17922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SMA · EMA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300984" y="2240280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Smoothing techniques that reduce noise and identify trends by averaging prices over rolling windows.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3300984" y="3749040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3300984" y="3822192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Lagging indicator — misses sudden directional changes.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071616" y="1188720"/>
            <a:ext cx="2743200" cy="3767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071616" y="1188720"/>
            <a:ext cx="2743200" cy="91440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208776" y="12344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Monte Carlo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208776" y="179222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F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0FFF0"/>
                </a:solidFill>
                <a:latin typeface="Calibri"/>
                <a:ea typeface="Calibri"/>
                <a:cs typeface="Calibri"/>
                <a:sym typeface="Calibri"/>
              </a:rPr>
              <a:t>Stochastic Simulation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208776" y="2240280"/>
            <a:ext cx="2468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Random sampling at scale to model price paths and generate probability distributions of future outcomes.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6"/>
          <p:cNvCxnSpPr/>
          <p:nvPr/>
        </p:nvCxnSpPr>
        <p:spPr>
          <a:xfrm>
            <a:off x="6208776" y="3749040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6"/>
          <p:cNvSpPr/>
          <p:nvPr/>
        </p:nvSpPr>
        <p:spPr>
          <a:xfrm>
            <a:off x="6208776" y="3822192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A880"/>
                </a:solidFill>
                <a:latin typeface="Calibri"/>
                <a:ea typeface="Calibri"/>
                <a:cs typeface="Calibri"/>
                <a:sym typeface="Calibri"/>
              </a:rPr>
              <a:t>Our chosen approach — extends prior work with strategy evaluation.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8686800" y="274320"/>
            <a:ext cx="1828800" cy="1828800"/>
          </a:xfrm>
          <a:prstGeom prst="ellipse">
            <a:avLst/>
          </a:prstGeom>
          <a:solidFill>
            <a:srgbClr val="00C49A">
              <a:alpha val="10196"/>
            </a:srgbClr>
          </a:solidFill>
          <a:ln cap="flat" cmpd="sng" w="12700">
            <a:solidFill>
              <a:srgbClr val="00C49A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8229600" y="4389120"/>
            <a:ext cx="1828800" cy="1828800"/>
          </a:xfrm>
          <a:prstGeom prst="ellipse">
            <a:avLst/>
          </a:prstGeom>
          <a:solidFill>
            <a:srgbClr val="00C49A">
              <a:alpha val="10196"/>
            </a:srgbClr>
          </a:solidFill>
          <a:ln cap="flat" cmpd="sng" w="12700">
            <a:solidFill>
              <a:srgbClr val="00C49A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Proposed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Monte Carlo Simulation — Four pillars of the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56032" y="1417320"/>
            <a:ext cx="1965960" cy="33375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56032" y="1417320"/>
            <a:ext cx="196596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56032" y="164592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1,000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56032" y="257860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Simulated Paths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56032" y="3090672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per stock scenario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432304" y="1417320"/>
            <a:ext cx="1965960" cy="33375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432304" y="1417320"/>
            <a:ext cx="196596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432304" y="164592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252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2432304" y="257860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Trading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2432304" y="3090672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one full market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608576" y="1417320"/>
            <a:ext cx="1965960" cy="33375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608576" y="1417320"/>
            <a:ext cx="196596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608576" y="164592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608576" y="257860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Stocks Supported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608576" y="3090672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AAPL · TSLA · MSFT · AMZN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784848" y="1417320"/>
            <a:ext cx="1965960" cy="33375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784848" y="1417320"/>
            <a:ext cx="196596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784848" y="164592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00C49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784848" y="2578608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Strategies Tested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784848" y="3090672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B&amp;H · Moving Avg · Stop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47472" y="1188720"/>
            <a:ext cx="18745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47472" y="1188720"/>
            <a:ext cx="187452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96112" y="1417320"/>
            <a:ext cx="731520" cy="73152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896112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2304288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Select Stock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269748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AAPL · TSLA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MSFT · AMZN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/>
          <p:nvPr/>
        </p:nvCxnSpPr>
        <p:spPr>
          <a:xfrm>
            <a:off x="2240280" y="2560320"/>
            <a:ext cx="256032" cy="0"/>
          </a:xfrm>
          <a:prstGeom prst="straightConnector1">
            <a:avLst/>
          </a:prstGeom>
          <a:noFill/>
          <a:ln cap="flat" cmpd="sng" w="317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8"/>
          <p:cNvSpPr/>
          <p:nvPr/>
        </p:nvSpPr>
        <p:spPr>
          <a:xfrm>
            <a:off x="2523744" y="1188720"/>
            <a:ext cx="18745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523744" y="1188720"/>
            <a:ext cx="187452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072384" y="1417320"/>
            <a:ext cx="731520" cy="73152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072384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633472" y="2304288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Fetch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633472" y="269748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Yahoo Finance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Historical prices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4416552" y="2560320"/>
            <a:ext cx="256032" cy="0"/>
          </a:xfrm>
          <a:prstGeom prst="straightConnector1">
            <a:avLst/>
          </a:prstGeom>
          <a:noFill/>
          <a:ln cap="flat" cmpd="sng" w="317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8"/>
          <p:cNvSpPr/>
          <p:nvPr/>
        </p:nvSpPr>
        <p:spPr>
          <a:xfrm>
            <a:off x="4700016" y="1188720"/>
            <a:ext cx="18745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700016" y="1188720"/>
            <a:ext cx="187452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248656" y="1417320"/>
            <a:ext cx="731520" cy="73152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5248656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809744" y="2304288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Compute Stats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809744" y="269748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Mean return 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Volatility 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6592824" y="2560320"/>
            <a:ext cx="256032" cy="0"/>
          </a:xfrm>
          <a:prstGeom prst="straightConnector1">
            <a:avLst/>
          </a:prstGeom>
          <a:noFill/>
          <a:ln cap="flat" cmpd="sng" w="317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8"/>
          <p:cNvSpPr/>
          <p:nvPr/>
        </p:nvSpPr>
        <p:spPr>
          <a:xfrm>
            <a:off x="6876288" y="1188720"/>
            <a:ext cx="18745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876288" y="1188720"/>
            <a:ext cx="187452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7424928" y="1417320"/>
            <a:ext cx="731520" cy="73152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424928" y="1417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986016" y="2304288"/>
            <a:ext cx="1655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Run Simulation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986016" y="2697480"/>
            <a:ext cx="16550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1,000 paths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252 trading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47472" y="4133088"/>
            <a:ext cx="8449056" cy="7955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48640" y="4206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Outputs  ·  Strategy performance metrics  ·  Average profit/loss  ·  Worst-case scenario  ·  Risk-return trade-off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457200" y="731520"/>
            <a:ext cx="1463040" cy="1463040"/>
          </a:xfrm>
          <a:prstGeom prst="ellipse">
            <a:avLst/>
          </a:prstGeom>
          <a:solidFill>
            <a:srgbClr val="00C49A">
              <a:alpha val="10196"/>
            </a:srgbClr>
          </a:solidFill>
          <a:ln cap="flat" cmpd="sng" w="12700">
            <a:solidFill>
              <a:srgbClr val="00C49A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8229600" y="4572000"/>
            <a:ext cx="1463040" cy="1463040"/>
          </a:xfrm>
          <a:prstGeom prst="ellipse">
            <a:avLst/>
          </a:prstGeom>
          <a:solidFill>
            <a:srgbClr val="00C49A">
              <a:alpha val="10196"/>
            </a:srgbClr>
          </a:solidFill>
          <a:ln cap="flat" cmpd="sng" w="12700">
            <a:solidFill>
              <a:srgbClr val="00C49A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Technical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7200" y="8869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Discrete-time Geometric Brownian Motion approximation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97280" y="1353312"/>
            <a:ext cx="6949440" cy="1051560"/>
          </a:xfrm>
          <a:prstGeom prst="rect">
            <a:avLst/>
          </a:prstGeom>
          <a:solidFill>
            <a:srgbClr val="0A2540"/>
          </a:solidFill>
          <a:ln cap="flat" cmpd="sng" w="190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097280" y="1353312"/>
            <a:ext cx="6949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00C49A"/>
                </a:solidFill>
                <a:latin typeface="Consolas"/>
                <a:ea typeface="Consolas"/>
                <a:cs typeface="Consolas"/>
                <a:sym typeface="Consolas"/>
              </a:rPr>
              <a:t>P(t+1)  =  P(t)  ×  (1 + rᵣₐₙᵈₜᵒᵐ)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65760" y="2633472"/>
            <a:ext cx="4114800" cy="98755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65760" y="2633472"/>
            <a:ext cx="64008" cy="987552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270662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C49A"/>
                </a:solidFill>
                <a:latin typeface="Consolas"/>
                <a:ea typeface="Consolas"/>
                <a:cs typeface="Consolas"/>
                <a:sym typeface="Consolas"/>
              </a:rPr>
              <a:t>P(t)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66928" y="3072384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Current price — today's closing price used as the simulation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800600" y="2633472"/>
            <a:ext cx="4114800" cy="98755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800600" y="2633472"/>
            <a:ext cx="64008" cy="987552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5001768" y="270662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C49A"/>
                </a:solidFill>
                <a:latin typeface="Consolas"/>
                <a:ea typeface="Consolas"/>
                <a:cs typeface="Consolas"/>
                <a:sym typeface="Consolas"/>
              </a:rPr>
              <a:t>P(t+1)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01768" y="3072384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Next price — the simulated price for the following trading 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65760" y="3803904"/>
            <a:ext cx="4114800" cy="98755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365760" y="3803904"/>
            <a:ext cx="64008" cy="987552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566928" y="387705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C49A"/>
                </a:solidFill>
                <a:latin typeface="Consolas"/>
                <a:ea typeface="Consolas"/>
                <a:cs typeface="Consolas"/>
                <a:sym typeface="Consolas"/>
              </a:rPr>
              <a:t>μ  (mu)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66928" y="4242816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Mean daily log-return computed from Yahoo Finance historical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800600" y="3803904"/>
            <a:ext cx="4114800" cy="98755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800600" y="3803904"/>
            <a:ext cx="64008" cy="987552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001768" y="387705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00C49A"/>
                </a:solidFill>
                <a:latin typeface="Consolas"/>
                <a:ea typeface="Consolas"/>
                <a:cs typeface="Consolas"/>
                <a:sym typeface="Consolas"/>
              </a:rPr>
              <a:t>σ  (sigma)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001768" y="4242816"/>
            <a:ext cx="3794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Std. deviation of daily returns — captures observed market volatility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Simulation Output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943600" y="1143000"/>
            <a:ext cx="2852928" cy="376732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080760" y="12801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080760" y="1783080"/>
            <a:ext cx="2560320" cy="8686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080760" y="1783080"/>
            <a:ext cx="64008" cy="86868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236208" y="1847088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Fan-Out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236208" y="2130552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Paths diverge over time — uncertainty grows with the simulation horizon.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080760" y="2807208"/>
            <a:ext cx="2560320" cy="8686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6080760" y="2807208"/>
            <a:ext cx="64008" cy="86868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236208" y="2871216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Log-Normal Dist.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236208" y="315468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Final prices follow a log-normal distribution driven by accumulated returns.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080760" y="3831336"/>
            <a:ext cx="2560320" cy="8686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080760" y="3831336"/>
            <a:ext cx="64008" cy="86868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236208" y="3895344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Fat 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236208" y="4178808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Extreme outcomes (crash / moonshot) are rare but visible in the outer paths.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2520"/>
            <a:ext cx="5638800" cy="380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Strategy Evaluation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256032" y="1188720"/>
            <a:ext cx="27432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256032" y="1188720"/>
            <a:ext cx="2743200" cy="804672"/>
          </a:xfrm>
          <a:prstGeom prst="rect">
            <a:avLst/>
          </a:prstGeom>
          <a:solidFill>
            <a:srgbClr val="14532D"/>
          </a:solidFill>
          <a:ln cap="flat" cmpd="sng" w="12700">
            <a:solidFill>
              <a:srgbClr val="145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393192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Buy &amp; Hold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93192" y="1691640"/>
            <a:ext cx="1463040" cy="256032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393192" y="16916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Highest Returns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93192" y="210312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20624" y="2468880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03504" y="2432304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Simplest strategy to execute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20624" y="2907792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03504" y="2871216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Captures full upside in bull markets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20624" y="3346704"/>
            <a:ext cx="118872" cy="118872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603504" y="3310128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Highest average profit in simulations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1"/>
          <p:cNvCxnSpPr/>
          <p:nvPr/>
        </p:nvCxnSpPr>
        <p:spPr>
          <a:xfrm>
            <a:off x="393192" y="3822192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1"/>
          <p:cNvSpPr/>
          <p:nvPr/>
        </p:nvSpPr>
        <p:spPr>
          <a:xfrm>
            <a:off x="420624" y="38862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– No downside protection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20624" y="42702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– Exposed to full drawdown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136392" y="1188720"/>
            <a:ext cx="27432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3136392" y="1188720"/>
            <a:ext cx="2743200" cy="804672"/>
          </a:xfrm>
          <a:prstGeom prst="rect">
            <a:avLst/>
          </a:prstGeom>
          <a:solidFill>
            <a:srgbClr val="1E3A5C"/>
          </a:solidFill>
          <a:ln cap="flat" cmpd="sng" w="12700">
            <a:solidFill>
              <a:srgbClr val="1E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273552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Moving Average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273552" y="1691640"/>
            <a:ext cx="1463040" cy="256032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3273552" y="16916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Balanced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3273552" y="210312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300984" y="2468880"/>
            <a:ext cx="118872" cy="1188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3483864" y="2432304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Filters market noise effectively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3300984" y="2907792"/>
            <a:ext cx="118872" cy="1188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3483864" y="2871216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Reduces exposure during downturns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3300984" y="3346704"/>
            <a:ext cx="118872" cy="1188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3483864" y="3310128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Moderate risk-return profile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1"/>
          <p:cNvCxnSpPr/>
          <p:nvPr/>
        </p:nvCxnSpPr>
        <p:spPr>
          <a:xfrm>
            <a:off x="3273552" y="3822192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1"/>
          <p:cNvSpPr/>
          <p:nvPr/>
        </p:nvSpPr>
        <p:spPr>
          <a:xfrm>
            <a:off x="3300984" y="38862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– Lagging indicator — late signals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300984" y="42702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– May miss early-stage rallies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016752" y="1188720"/>
            <a:ext cx="274320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016752" y="1188720"/>
            <a:ext cx="2743200" cy="804672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7C2D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153912" y="12344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Stop Loss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153912" y="1691640"/>
            <a:ext cx="1463040" cy="256032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6153912" y="16916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Capital Protection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153912" y="210312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181344" y="2468880"/>
            <a:ext cx="118872" cy="1188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364224" y="2432304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Limits maximum loss per trade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181344" y="2907792"/>
            <a:ext cx="118872" cy="1188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364224" y="2871216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Automatic exit reduces emotion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181344" y="3346704"/>
            <a:ext cx="118872" cy="11887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6364224" y="3310128"/>
            <a:ext cx="22677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Significantly reduces worst-case losses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1"/>
          <p:cNvCxnSpPr/>
          <p:nvPr/>
        </p:nvCxnSpPr>
        <p:spPr>
          <a:xfrm>
            <a:off x="6153912" y="3822192"/>
            <a:ext cx="2468880" cy="0"/>
          </a:xfrm>
          <a:prstGeom prst="straightConnector1">
            <a:avLst/>
          </a:prstGeom>
          <a:noFill/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1"/>
          <p:cNvSpPr/>
          <p:nvPr/>
        </p:nvSpPr>
        <p:spPr>
          <a:xfrm>
            <a:off x="6181344" y="38862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– Lower average total returns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181344" y="42702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– May exit prematurely in volatile markets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Strategy Comparison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347472" y="4498848"/>
            <a:ext cx="8449056" cy="47548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548640" y="451713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Key Finding  ·  Buy &amp; Hold maximises returns but accepts full drawdown risk  ·  Stop Loss trades profit for safety  ·  Moving Average balances both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2526"/>
            <a:ext cx="44958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600" y="1112527"/>
            <a:ext cx="4191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0" y="0"/>
            <a:ext cx="347472" cy="96012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594360" y="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Challenges Encountered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320040" y="1170432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320040" y="1170432"/>
            <a:ext cx="411480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502920" y="1490472"/>
            <a:ext cx="640080" cy="640080"/>
          </a:xfrm>
          <a:prstGeom prst="ellipse">
            <a:avLst/>
          </a:prstGeom>
          <a:solidFill>
            <a:srgbClr val="E0F7F0"/>
          </a:solidFill>
          <a:ln cap="flat" cmpd="sng" w="12700">
            <a:solidFill>
              <a:srgbClr val="E0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55448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3"/>
          <p:cNvSpPr/>
          <p:nvPr/>
        </p:nvSpPr>
        <p:spPr>
          <a:xfrm>
            <a:off x="1280160" y="12801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D8E8F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1280160" y="160934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Handling Real Market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84632" y="2048256"/>
            <a:ext cx="382219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Yahoo Finance data contained missing values, corporate split adjustments, and inconsistent date ranges — requiring dedicated preprocessing and validation pipelines.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782312" y="1170432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4782312" y="1170432"/>
            <a:ext cx="411480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4965192" y="1490472"/>
            <a:ext cx="640080" cy="640080"/>
          </a:xfrm>
          <a:prstGeom prst="ellipse">
            <a:avLst/>
          </a:prstGeom>
          <a:solidFill>
            <a:srgbClr val="E0F7F0"/>
          </a:solidFill>
          <a:ln cap="flat" cmpd="sng" w="12700">
            <a:solidFill>
              <a:srgbClr val="E0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55448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/>
          <p:nvPr/>
        </p:nvSpPr>
        <p:spPr>
          <a:xfrm>
            <a:off x="5742432" y="128016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D8E8F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742432" y="1609344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Randomness Consistency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946904" y="2048256"/>
            <a:ext cx="382219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Ensuring reproducibility across simulation runs while maintaining true stochastic behaviour required careful random-seed management and distribution validation.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320040" y="3163824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320040" y="3163824"/>
            <a:ext cx="411480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502920" y="3483864"/>
            <a:ext cx="640080" cy="640080"/>
          </a:xfrm>
          <a:prstGeom prst="ellipse">
            <a:avLst/>
          </a:prstGeom>
          <a:solidFill>
            <a:srgbClr val="E0F7F0"/>
          </a:solidFill>
          <a:ln cap="flat" cmpd="sng" w="12700">
            <a:solidFill>
              <a:srgbClr val="E0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354787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/>
          <p:nvPr/>
        </p:nvSpPr>
        <p:spPr>
          <a:xfrm>
            <a:off x="1280160" y="327355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D8E8F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280160" y="3602736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Strategy 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84632" y="4041648"/>
            <a:ext cx="382219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Translating financial strategy rules (crossovers, stop thresholds) into clean, vectorised simulation logic without introducing look-ahead bias.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782312" y="3163824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AF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4782312" y="3163824"/>
            <a:ext cx="4114800" cy="64008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4965192" y="3483864"/>
            <a:ext cx="640080" cy="640080"/>
          </a:xfrm>
          <a:prstGeom prst="ellipse">
            <a:avLst/>
          </a:prstGeom>
          <a:solidFill>
            <a:srgbClr val="E0F7F0"/>
          </a:solidFill>
          <a:ln cap="flat" cmpd="sng" w="12700">
            <a:solidFill>
              <a:srgbClr val="E0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547872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/>
          <p:nvPr/>
        </p:nvSpPr>
        <p:spPr>
          <a:xfrm>
            <a:off x="5742432" y="327355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D8E8F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742432" y="3602736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Debugging Simulations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946904" y="4041648"/>
            <a:ext cx="382219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4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5470"/>
                </a:solidFill>
                <a:latin typeface="Calibri"/>
                <a:ea typeface="Calibri"/>
                <a:cs typeface="Calibri"/>
                <a:sym typeface="Calibri"/>
              </a:rPr>
              <a:t>Standard deterministic debugging techniques fail with stochastic code — outputs differ each run, making defect isolation significantly more challenging.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/>
          <p:nvPr/>
        </p:nvSpPr>
        <p:spPr>
          <a:xfrm>
            <a:off x="411480" y="3200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4800600" y="3200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4"/>
          <p:cNvCxnSpPr/>
          <p:nvPr/>
        </p:nvCxnSpPr>
        <p:spPr>
          <a:xfrm>
            <a:off x="4572000" y="320040"/>
            <a:ext cx="0" cy="4572000"/>
          </a:xfrm>
          <a:prstGeom prst="straightConnector1">
            <a:avLst/>
          </a:prstGeom>
          <a:noFill/>
          <a:ln cap="flat" cmpd="sng" w="1905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4"/>
          <p:cNvSpPr/>
          <p:nvPr/>
        </p:nvSpPr>
        <p:spPr>
          <a:xfrm>
            <a:off x="347472" y="1005840"/>
            <a:ext cx="4041648" cy="3858768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30352" y="1371600"/>
            <a:ext cx="228600" cy="22860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896112" y="1170432"/>
            <a:ext cx="3364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Monte Carlo simulation effectively quantifies stock market uncertainty at 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30352" y="2258568"/>
            <a:ext cx="228600" cy="22860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896112" y="2057400"/>
            <a:ext cx="3364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1,000 simulated paths produce stable, reliable statistical distributions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30352" y="3145536"/>
            <a:ext cx="228600" cy="22860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896112" y="2944368"/>
            <a:ext cx="3364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Stop Loss strategy demonstrably reduces worst-case portfolio losses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530352" y="4032504"/>
            <a:ext cx="228600" cy="228600"/>
          </a:xfrm>
          <a:prstGeom prst="ellipse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896112" y="3831336"/>
            <a:ext cx="3364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8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8E8F8"/>
                </a:solidFill>
                <a:latin typeface="Calibri"/>
                <a:ea typeface="Calibri"/>
                <a:cs typeface="Calibri"/>
                <a:sym typeface="Calibri"/>
              </a:rPr>
              <a:t>Buy &amp; Hold consistently outperforms when market trend is broadly positive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773168" y="1005840"/>
            <a:ext cx="4005072" cy="80467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4773168" y="1005840"/>
            <a:ext cx="64008" cy="8046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4937760" y="106984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GBM Extension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937760" y="1371600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Full Geometric Brownian Motion with continuous-time drift and diffusion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773168" y="1965960"/>
            <a:ext cx="4005072" cy="80467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4773168" y="1965960"/>
            <a:ext cx="64008" cy="8046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937760" y="202996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ML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937760" y="2331720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LSTM / transformer models to predict μ and σ dynamically each day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4773168" y="2926080"/>
            <a:ext cx="4005072" cy="80467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4773168" y="2926080"/>
            <a:ext cx="64008" cy="8046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4937760" y="299008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Portfolio Simulation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937760" y="3291840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Multi-asset portfolios with correlation matrices and auto-rebalancing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4773168" y="3886200"/>
            <a:ext cx="4005072" cy="804672"/>
          </a:xfrm>
          <a:prstGeom prst="rect">
            <a:avLst/>
          </a:prstGeom>
          <a:solidFill>
            <a:srgbClr val="0A2540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4773168" y="3886200"/>
            <a:ext cx="64008" cy="8046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4937760" y="395020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Expanded Universe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937760" y="4251960"/>
            <a:ext cx="3703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Full S&amp;P 500 sector analysis beyond the initial four test stocks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C49A"/>
          </a:solidFill>
          <a:ln cap="flat" cmpd="sng" w="1270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6858000" y="182880"/>
            <a:ext cx="1371600" cy="1371600"/>
          </a:xfrm>
          <a:prstGeom prst="ellipse">
            <a:avLst/>
          </a:prstGeom>
          <a:solidFill>
            <a:srgbClr val="00C49A">
              <a:alpha val="10196"/>
            </a:srgbClr>
          </a:solidFill>
          <a:ln cap="flat" cmpd="sng" w="12700">
            <a:solidFill>
              <a:srgbClr val="00C49A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7772400" y="1371600"/>
            <a:ext cx="1371600" cy="1371600"/>
          </a:xfrm>
          <a:prstGeom prst="ellipse">
            <a:avLst/>
          </a:prstGeom>
          <a:solidFill>
            <a:srgbClr val="00C49A">
              <a:alpha val="10196"/>
            </a:srgbClr>
          </a:solidFill>
          <a:ln cap="flat" cmpd="sng" w="12700">
            <a:solidFill>
              <a:srgbClr val="00C49A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8412480" y="3200400"/>
            <a:ext cx="1371600" cy="1371600"/>
          </a:xfrm>
          <a:prstGeom prst="ellipse">
            <a:avLst/>
          </a:prstGeom>
          <a:solidFill>
            <a:srgbClr val="00C49A">
              <a:alpha val="10196"/>
            </a:srgbClr>
          </a:solidFill>
          <a:ln cap="flat" cmpd="sng" w="12700">
            <a:solidFill>
              <a:srgbClr val="00C49A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685800" y="77724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685800" y="187452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49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C49A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5"/>
          <p:cNvCxnSpPr/>
          <p:nvPr/>
        </p:nvCxnSpPr>
        <p:spPr>
          <a:xfrm>
            <a:off x="685800" y="2450592"/>
            <a:ext cx="3474720" cy="0"/>
          </a:xfrm>
          <a:prstGeom prst="straightConnector1">
            <a:avLst/>
          </a:prstGeom>
          <a:noFill/>
          <a:ln cap="flat" cmpd="sng" w="19050">
            <a:solidFill>
              <a:srgbClr val="00C4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5"/>
          <p:cNvSpPr/>
          <p:nvPr/>
        </p:nvSpPr>
        <p:spPr>
          <a:xfrm>
            <a:off x="685800" y="263347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Shivam Patel  ·  Saumya Pandya  ·  Rushi Rathod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85800" y="30358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SOFE 4820U — Modelling &amp; Simulation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